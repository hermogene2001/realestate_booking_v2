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daea937ddb4496" /><Relationship Type="http://schemas.openxmlformats.org/officeDocument/2006/relationships/extended-properties" Target="/docProps/app.xml" Id="Rf0836993b69e4655" /><Relationship Type="http://schemas.openxmlformats.org/officeDocument/2006/relationships/officeDocument" Target="/ppt/presentation.xml" Id="R7a51e517fb4647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36c761db354090"/>
  </p:sldMasterIdLst>
  <p:notesMasterIdLst>
    <p:notesMasterId xmlns:r="http://schemas.openxmlformats.org/officeDocument/2006/relationships" r:id="R6ad2c69e4b3241fc"/>
  </p:notesMasterIdLst>
  <p:sldIdLst>
    <p:sldId xmlns:r="http://schemas.openxmlformats.org/officeDocument/2006/relationships" id="256" r:id="R7727e2288c91485e"/>
    <p:sldId xmlns:r="http://schemas.openxmlformats.org/officeDocument/2006/relationships" id="257" r:id="Rf70d506a08d24efa"/>
    <p:sldId xmlns:r="http://schemas.openxmlformats.org/officeDocument/2006/relationships" id="258" r:id="Ra7bd4f9d96824290"/>
    <p:sldId xmlns:r="http://schemas.openxmlformats.org/officeDocument/2006/relationships" id="259" r:id="Rd831f82bb62c4ecf"/>
    <p:sldId xmlns:r="http://schemas.openxmlformats.org/officeDocument/2006/relationships" id="260" r:id="Rc56fdb99ef9c457a"/>
    <p:sldId xmlns:r="http://schemas.openxmlformats.org/officeDocument/2006/relationships" id="261" r:id="R38ce5b39dcbf4edd"/>
    <p:sldId xmlns:r="http://schemas.openxmlformats.org/officeDocument/2006/relationships" id="262" r:id="Rca569373da744364"/>
    <p:sldId xmlns:r="http://schemas.openxmlformats.org/officeDocument/2006/relationships" id="263" r:id="R4d15c26a134a4227"/>
    <p:sldId xmlns:r="http://schemas.openxmlformats.org/officeDocument/2006/relationships" id="264" r:id="Rc65b3964a731486f"/>
    <p:sldId xmlns:r="http://schemas.openxmlformats.org/officeDocument/2006/relationships" id="265" r:id="R529780aba73c4c4c"/>
    <p:sldId xmlns:r="http://schemas.openxmlformats.org/officeDocument/2006/relationships" id="266" r:id="R76e25981b5c54c57"/>
    <p:sldId xmlns:r="http://schemas.openxmlformats.org/officeDocument/2006/relationships" id="267" r:id="R6d9c74b433ad489d"/>
    <p:sldId xmlns:r="http://schemas.openxmlformats.org/officeDocument/2006/relationships" id="268" r:id="R868d1f2464284ac5"/>
    <p:sldId xmlns:r="http://schemas.openxmlformats.org/officeDocument/2006/relationships" id="269" r:id="R89f8fcaa178c47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6c761db354090" /><Relationship Type="http://schemas.openxmlformats.org/officeDocument/2006/relationships/theme" Target="/ppt/theme/theme1.xml" Id="Reea073286eae4af3" /><Relationship Type="http://schemas.openxmlformats.org/officeDocument/2006/relationships/notesMaster" Target="/ppt/notesMasters/notesMaster1.xml" Id="R6ad2c69e4b3241fc" /><Relationship Type="http://schemas.openxmlformats.org/officeDocument/2006/relationships/presProps" Target="/ppt/presProps.xml" Id="Rb46b98a409884fb0" /><Relationship Type="http://schemas.openxmlformats.org/officeDocument/2006/relationships/viewProps" Target="/ppt/viewProps.xml" Id="Rd876869908134ded" /><Relationship Type="http://schemas.openxmlformats.org/officeDocument/2006/relationships/tableStyles" Target="/ppt/tableStyles.xml" Id="Rf6a5866d1f1f4100" /><Relationship Type="http://schemas.openxmlformats.org/officeDocument/2006/relationships/slide" Target="/ppt/slides/slide1.xml" Id="R7727e2288c91485e" /><Relationship Type="http://schemas.openxmlformats.org/officeDocument/2006/relationships/slide" Target="/ppt/slides/slide2.xml" Id="Rf70d506a08d24efa" /><Relationship Type="http://schemas.openxmlformats.org/officeDocument/2006/relationships/slide" Target="/ppt/slides/slide3.xml" Id="Ra7bd4f9d96824290" /><Relationship Type="http://schemas.openxmlformats.org/officeDocument/2006/relationships/slide" Target="/ppt/slides/slide4.xml" Id="Rd831f82bb62c4ecf" /><Relationship Type="http://schemas.openxmlformats.org/officeDocument/2006/relationships/slide" Target="/ppt/slides/slide5.xml" Id="Rc56fdb99ef9c457a" /><Relationship Type="http://schemas.openxmlformats.org/officeDocument/2006/relationships/slide" Target="/ppt/slides/slide6.xml" Id="R38ce5b39dcbf4edd" /><Relationship Type="http://schemas.openxmlformats.org/officeDocument/2006/relationships/slide" Target="/ppt/slides/slide7.xml" Id="Rca569373da744364" /><Relationship Type="http://schemas.openxmlformats.org/officeDocument/2006/relationships/slide" Target="/ppt/slides/slide8.xml" Id="R4d15c26a134a4227" /><Relationship Type="http://schemas.openxmlformats.org/officeDocument/2006/relationships/slide" Target="/ppt/slides/slide9.xml" Id="Rc65b3964a731486f" /><Relationship Type="http://schemas.openxmlformats.org/officeDocument/2006/relationships/slide" Target="/ppt/slides/slide10.xml" Id="R529780aba73c4c4c" /><Relationship Type="http://schemas.openxmlformats.org/officeDocument/2006/relationships/slide" Target="/ppt/slides/slide11.xml" Id="R76e25981b5c54c57" /><Relationship Type="http://schemas.openxmlformats.org/officeDocument/2006/relationships/slide" Target="/ppt/slides/slide12.xml" Id="R6d9c74b433ad489d" /><Relationship Type="http://schemas.openxmlformats.org/officeDocument/2006/relationships/slide" Target="/ppt/slides/slide13.xml" Id="R868d1f2464284ac5" /><Relationship Type="http://schemas.openxmlformats.org/officeDocument/2006/relationships/slide" Target="/ppt/slides/slide14.xml" Id="R89f8fcaa178c47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9ddbdb0adee4f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310b6ebd674195" /><Relationship Type="http://schemas.openxmlformats.org/officeDocument/2006/relationships/notesMaster" Target="/ppt/notesMasters/notesMaster1.xml" Id="Rf2410b0f31d14c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c963d65a874dc4" /><Relationship Type="http://schemas.openxmlformats.org/officeDocument/2006/relationships/notesMaster" Target="/ppt/notesMasters/notesMaster1.xml" Id="R1f37bf03f1114e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4edef83e5c4a8e" /><Relationship Type="http://schemas.openxmlformats.org/officeDocument/2006/relationships/notesMaster" Target="/ppt/notesMasters/notesMaster1.xml" Id="R70c4fa2105d142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7dbd9a24c641e2" /><Relationship Type="http://schemas.openxmlformats.org/officeDocument/2006/relationships/notesMaster" Target="/ppt/notesMasters/notesMaster1.xml" Id="R96615d659bcd45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993019833f40fa" /><Relationship Type="http://schemas.openxmlformats.org/officeDocument/2006/relationships/notesMaster" Target="/ppt/notesMasters/notesMaster1.xml" Id="Rb8517adf50d44e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8b204a2f6c48fa" /><Relationship Type="http://schemas.openxmlformats.org/officeDocument/2006/relationships/notesMaster" Target="/ppt/notesMasters/notesMaster1.xml" Id="Ra49ef84036cc4f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6d1ff8f25d44a0" /><Relationship Type="http://schemas.openxmlformats.org/officeDocument/2006/relationships/notesMaster" Target="/ppt/notesMasters/notesMaster1.xml" Id="R354837d840ca48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e1017b967e4a94" /><Relationship Type="http://schemas.openxmlformats.org/officeDocument/2006/relationships/notesMaster" Target="/ppt/notesMasters/notesMaster1.xml" Id="R2b7d6429ad1045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5c25e5977f4af3" /><Relationship Type="http://schemas.openxmlformats.org/officeDocument/2006/relationships/notesMaster" Target="/ppt/notesMasters/notesMaster1.xml" Id="R2f4994528f6040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f5f4ecdd7a41c1" /><Relationship Type="http://schemas.openxmlformats.org/officeDocument/2006/relationships/notesMaster" Target="/ppt/notesMasters/notesMaster1.xml" Id="Rc7bed04df5a347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8a43af62664d93" /><Relationship Type="http://schemas.openxmlformats.org/officeDocument/2006/relationships/notesMaster" Target="/ppt/notesMasters/notesMaster1.xml" Id="Rd133bee4029f49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276b56b0e54fc6" /><Relationship Type="http://schemas.openxmlformats.org/officeDocument/2006/relationships/notesMaster" Target="/ppt/notesMasters/notesMaster1.xml" Id="Rbbf8d900e75346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26ddeabccf40f3" /><Relationship Type="http://schemas.openxmlformats.org/officeDocument/2006/relationships/notesMaster" Target="/ppt/notesMasters/notesMaster1.xml" Id="R257d5dcfdda246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5645b266554ed9" /><Relationship Type="http://schemas.openxmlformats.org/officeDocument/2006/relationships/notesMaster" Target="/ppt/notesMasters/notesMaster1.xml" Id="Re1ac0871f6774b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b51c5a71e456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28ffe10f8724675" /><Relationship Type="http://schemas.openxmlformats.org/officeDocument/2006/relationships/slideLayout" Target="/ppt/slideLayouts/slideLayout2.xml" Id="R9fe6c1f3f3e947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e6c1f3f3e947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3154cc29b24877" /><Relationship Type="http://schemas.openxmlformats.org/officeDocument/2006/relationships/image" Target="/ppt/media/image.png" Id="Re46024d3985c466e" /><Relationship Type="http://schemas.openxmlformats.org/officeDocument/2006/relationships/notesSlide" Target="/ppt/notesSlides/notesSlide1.xml" Id="Rb854cf26d998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e2c76ae9d1453a" /><Relationship Type="http://schemas.openxmlformats.org/officeDocument/2006/relationships/notesSlide" Target="/ppt/notesSlides/notesSlide2.xml" Id="Rccefb8dc44ca4d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a02c2840634a23" /><Relationship Type="http://schemas.openxmlformats.org/officeDocument/2006/relationships/notesSlide" Target="/ppt/notesSlides/notesSlide3.xml" Id="R1bc59fae36e246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ff3110a0e248bc" /><Relationship Type="http://schemas.openxmlformats.org/officeDocument/2006/relationships/notesSlide" Target="/ppt/notesSlides/notesSlide4.xml" Id="R24672408478545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73ad4a35524519" /><Relationship Type="http://schemas.openxmlformats.org/officeDocument/2006/relationships/notesSlide" Target="/ppt/notesSlides/notesSlide5.xml" Id="R8f463a3ee3cb42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9de35022b342f0" /><Relationship Type="http://schemas.openxmlformats.org/officeDocument/2006/relationships/notesSlide" Target="/ppt/notesSlides/notesSlide6.xml" Id="R02714c67caf948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fa2b04787d4454" /><Relationship Type="http://schemas.openxmlformats.org/officeDocument/2006/relationships/image" Target="/ppt/media/image2.png" Id="Rf99e0db93ca146b7" /><Relationship Type="http://schemas.openxmlformats.org/officeDocument/2006/relationships/notesSlide" Target="/ppt/notesSlides/notesSlide7.xml" Id="Rda4726a34d9f45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484985bcf44155" /><Relationship Type="http://schemas.openxmlformats.org/officeDocument/2006/relationships/image" Target="/ppt/media/image3.png" Id="Rfc10cd0b85c449d7" /><Relationship Type="http://schemas.openxmlformats.org/officeDocument/2006/relationships/image" Target="/ppt/media/image4.png" Id="R3ca843a9afbe498a" /><Relationship Type="http://schemas.openxmlformats.org/officeDocument/2006/relationships/image" Target="/ppt/media/image5.png" Id="R0026af17519e4ca3" /><Relationship Type="http://schemas.openxmlformats.org/officeDocument/2006/relationships/notesSlide" Target="/ppt/notesSlides/notesSlide8.xml" Id="R62da2d98243347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3823b399d34404" /><Relationship Type="http://schemas.openxmlformats.org/officeDocument/2006/relationships/image" Target="/ppt/media/image6.png" Id="R1dcaa50c59134345" /><Relationship Type="http://schemas.openxmlformats.org/officeDocument/2006/relationships/image" Target="/ppt/media/image7.png" Id="R094ac145a5074bb2" /><Relationship Type="http://schemas.openxmlformats.org/officeDocument/2006/relationships/image" Target="/ppt/media/image8.png" Id="R1a4dceee2bf24324" /><Relationship Type="http://schemas.openxmlformats.org/officeDocument/2006/relationships/notesSlide" Target="/ppt/notesSlides/notesSlide9.xml" Id="R77bab4dc8ec549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afcd65949e46cb" /><Relationship Type="http://schemas.openxmlformats.org/officeDocument/2006/relationships/notesSlide" Target="/ppt/notesSlides/notesSlide10.xml" Id="R6dd60b091a694a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d61852901b4343" /><Relationship Type="http://schemas.openxmlformats.org/officeDocument/2006/relationships/notesSlide" Target="/ppt/notesSlides/notesSlide11.xml" Id="R06165362a94d46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f090c3a20b4758" /><Relationship Type="http://schemas.openxmlformats.org/officeDocument/2006/relationships/notesSlide" Target="/ppt/notesSlides/notesSlide12.xml" Id="R59b05c0726484e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3e68546af6462f" /><Relationship Type="http://schemas.openxmlformats.org/officeDocument/2006/relationships/notesSlide" Target="/ppt/notesSlides/notesSlide13.xml" Id="Rd28c371dfb5644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ae94c3ab7e4772" /><Relationship Type="http://schemas.openxmlformats.org/officeDocument/2006/relationships/image" Target="/ppt/media/image9.png" Id="R61c939ca36e14156" /><Relationship Type="http://schemas.openxmlformats.org/officeDocument/2006/relationships/notesSlide" Target="/ppt/notesSlides/notesSlide14.xml" Id="Ra61f6a17e7804f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55BB8-2EBA-4BA9-AE52-0B3C0A83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A"/>
          </a:solidFill>
          <a:ln xmlns:a="http://schemas.openxmlformats.org/drawingml/2006/main" w="0">
            <a:solidFill>
              <a:srgbClr val="0921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EDFCF-E947-4514-BC5A-C5B470CD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DC82F-828A-4B34-B2A0-2291DAD6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A"/>
          </a:solidFill>
          <a:ln xmlns:a="http://schemas.openxmlformats.org/drawingml/2006/main" w="0">
            <a:solidFill>
              <a:srgbClr val="09212A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024d3985c466e"/>
          <a:srcRect xmlns:a="http://schemas.openxmlformats.org/drawingml/2006/main" l="0" t="14173" r="0" b="141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400050"/>
            <a:ext cx="4953000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1C8C5-539E-438A-AAD5-B7CF6D4C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6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A">
              <a:alpha val="80000"/>
            </a:srgbClr>
          </a:solidFill>
          <a:ln xmlns:a="http://schemas.openxmlformats.org/drawingml/2006/main" w="0">
            <a:solidFill>
              <a:srgbClr val="09212A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9C0D1-BB7F-45FF-AA7E-4F466D11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A2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A26B"/>
                </a:solidFill>
                <a:latin typeface="Aptos"/>
                <a:ea typeface="Aptos"/>
                <a:cs typeface="Aptos"/>
              </a:rPr>
              <a:t>CAPSTONE PROJECT DEFENSE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228A9-B0F3-447F-B2F7-BA91515B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5524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Blockchain-based real estate booking platform for safer rental deposits in Kigali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92BD8-DB32-4EE8-A275-19CC0E05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1EE"/>
                </a:solidFill>
                <a:latin typeface="Aptos"/>
                <a:ea typeface="Aptos"/>
                <a:cs typeface="Aptos"/>
              </a:rPr>
              <a:t>A full-stack web dApp that combines verified listings, multi-payment booking, smart-contract escrow, fraud monitoring, and administrative dispute resolution.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81A85-3DCD-49B3-8128-96A2933D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58DFE-ED15-4E05-81E9-4749C6A1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BEA9E-A408-4D1C-9C9F-903D1620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295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A26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0A26B"/>
                </a:solidFill>
                <a:latin typeface="Aptos Display"/>
                <a:ea typeface="Aptos Display"/>
                <a:cs typeface="Aptos Display"/>
              </a:rPr>
              <a:t>80+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6DBB5-FC26-4CD9-841D-03618DFF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API endpoints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8F904-B978-493A-84E7-0F43F73A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15 route 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F83C6-1A3A-4296-B275-13E7BF07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46B7C-126A-4D78-A0F6-2062E0F0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3F109-16E4-4814-843F-29EBFE4E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29150"/>
            <a:ext cx="1295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A13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8A135"/>
                </a:solidFill>
                <a:latin typeface="Aptos Display"/>
                <a:ea typeface="Aptos Display"/>
                <a:cs typeface="Aptos Display"/>
              </a:rPr>
              <a:t>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760E8-D927-41A4-B724-3A1D0F67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720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Data 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7F5FA-D04A-4FDC-8E13-300AC41B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3875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Prisma + MySQL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57463-F172-4E9D-A23C-D706D83A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24ABB-E71B-4F01-8F8B-86A6F321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9C6F4-4D9D-42F3-B31C-47F694D6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1295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7C7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D7C78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3511D-989E-4425-890D-F2A7C2EC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720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Core services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488547-2233-4723-9430-A0E536BD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3875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Web, API, DB, chain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C737E-9C2E-4DED-8586-628677D7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Bachelor of Technology Capstone Project | Defense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3ACACF-FD0D-4F2B-A4A1-04E79738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24148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8BDC8-905F-488E-B767-D073A0A1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2F019-9480-42E6-8A38-15B7F867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C66533B-3CFA-4CDD-8B24-C736CF5C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FFE505-8719-4D63-9070-2C27EBC2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PROBLEM FRAMING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F55DA-A916-4765-99FB-E64944ED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Traditional rental booking leaves tenants and owners exposed before trust is established.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4A769-FFE8-400A-8B5C-0858D306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15C4F-862D-4C57-9847-FF88BDB7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B"/>
                </a:solidFill>
                <a:latin typeface="Aptos"/>
                <a:ea typeface="Aptos"/>
                <a:cs typeface="Aptos"/>
              </a:rPr>
              <a:t>Deposit payments are often made before property handover is independently guaranteed.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FD279-D5C0-48EA-BAD6-499DC0F1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995F2-6687-4E66-BEEF-E38D7E2E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B"/>
                </a:solidFill>
                <a:latin typeface="Aptos"/>
                <a:ea typeface="Aptos"/>
                <a:cs typeface="Aptos"/>
              </a:rPr>
              <a:t>Property ownership and listing legitimacy can be difficult to verify digitally.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162D4-39BD-4C9D-B7A1-E6255F7A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F3D58-D523-48FB-AFCC-E947325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B"/>
                </a:solidFill>
                <a:latin typeface="Aptos"/>
                <a:ea typeface="Aptos"/>
                <a:cs typeface="Aptos"/>
              </a:rPr>
              <a:t>Disputes are slow, informal, and often biased toward the party holding the money.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34F81-F24B-49C2-87A5-5CE0D40E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CE1B0-C17C-459B-A6B6-E3FDEFD2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2B"/>
                </a:solidFill>
                <a:latin typeface="Aptos"/>
                <a:ea typeface="Aptos"/>
                <a:cs typeface="Aptos"/>
              </a:rPr>
              <a:t>Manual booking channels create room for double-booking, impersonation, and weak audit trails.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69186-B300-459A-99CE-C965A4E0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4FF05-64B8-466D-9FD0-BE877A59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FCC10-D653-4513-A1E5-3EFDD075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95525"/>
            <a:ext cx="2819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74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9574B"/>
                </a:solidFill>
                <a:latin typeface="Aptos Display"/>
                <a:ea typeface="Aptos Display"/>
                <a:cs typeface="Aptos Display"/>
              </a:rPr>
              <a:t>Deposit theft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59064-859A-4C43-82C4-4EC901CC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3842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Core user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6834A-87D3-4E74-956B-AA8095B3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Owner can take funds before delivery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861EA-7C32-4033-BD84-77CD3902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0AB1F-A630-4D1D-8711-1D9576B7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DC4BEC-E230-403B-964E-FB8421D1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2819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A13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8A135"/>
                </a:solidFill>
                <a:latin typeface="Aptos Display"/>
                <a:ea typeface="Aptos Display"/>
                <a:cs typeface="Aptos Display"/>
              </a:rPr>
              <a:t>Double 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2F07D-2637-4A00-A8D2-CC10446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766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Operational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13A7C-D801-4AE1-ABAB-C717DE93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Same property/date conflict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F37E7-E790-4C3F-86A9-2DC97A1F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A777B-2900-469D-9ABA-2312ACDA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C9907-B539-433B-A2A6-606460DF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72025"/>
            <a:ext cx="2819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7C7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D7C78"/>
                </a:solidFill>
                <a:latin typeface="Aptos Display"/>
                <a:ea typeface="Aptos Display"/>
                <a:cs typeface="Aptos Display"/>
              </a:rPr>
              <a:t>No audit trail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51BD27-B0E0-4EE0-A2E1-3DFD5D54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1492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Governance 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09FAA2-A227-41E0-9CF1-69E150B7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816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Weak recovery and dispute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C2FE0-AEB9-45DD-9E53-8B922674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8932A3-AF38-492B-8606-B5556152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53205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DAAE0C-7BC0-42EB-8AD2-5BBC96D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0F2CB-6BF0-4BFE-8B32-DA117C39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56E083-BFE3-4EE8-B746-F5AEE0F8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D7CF2E-1BD9-48BC-BA39-AD296993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RESEARCH 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87496-8F3F-4D47-844B-914B171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The project translates rental-market vulnerabilities into four testable system objectives.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D8B78-4A82-4299-8143-F6844E65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383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7685B-571A-4610-9E38-6E6FDC3A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F52D4-1019-4044-B437-0906B189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A2B66-BABB-4188-B466-572E87C9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971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Identify financial friction and fraud patterns in Kigali residential booking.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9B056-6BD7-4CDE-93EA-75E795F3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2383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8CB13-4B28-4E80-A67E-C06DDC04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95D4C-86E0-4AD6-B726-70A6B9B3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336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38BBE-065A-448A-AE7E-3348DD31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38450"/>
            <a:ext cx="1971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Create smart-contract escrow for conditional locking and release of rental deposits.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51EBC-D9D0-42DC-BE98-911059E3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2383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80DD6-EB1F-4C1D-97FD-675DCD5A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DBC9B-F79B-4CD3-90E8-8FBDF9AB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6A1F8-E253-4CC2-9D7A-68092C74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38450"/>
            <a:ext cx="1971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Build a user-friendly decentralized booking application for non-technical users.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124AB-A6FD-4F61-9214-2AE9D16F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2383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05D07-363D-4D4F-86B0-43790B53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FB523-7B3B-4D82-B794-22F9EBCB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978B2-5ECF-4AEE-A664-76A9D52A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38450"/>
            <a:ext cx="1971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Assess security, technical effectiveness, and user acceptance against deposit fraud.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EBEF6-B072-4170-B5B2-00001FCB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Defense focus: show how each objective moved from research problem to implemented, verifiable system behavior.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CEE92B-3D36-4843-9540-24A9FDFE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64410-1154-4B55-95BB-8671EFF9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51277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4AB4DD-DFDE-40B3-BB50-5A915639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20C7E-2B37-4BB7-BE2B-13735207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556E264-4096-43E1-AB98-AC17A847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06C104-0BFD-44A0-865C-A3FC45E5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1D009-5EF7-4A6F-A179-FFCEF1A7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A design-science approach links the problem analysis to a working, verified artifact.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60844-EA04-4483-8672-2F031EB0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82B6B-3D46-4DDE-916F-518E862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FCC27-558C-465A-B97B-022384AC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1. Problem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4012D-ED60-4783-8EA4-177E4061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1733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Map rental fraud risks: deposits, identity, double-booking, and dispute gaps.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03BB7-230E-4A8C-90D4-112BB5C4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F6365-45D9-4F67-A284-9B355460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B3EBE-7D18-4EC8-8D42-CB344D45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289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2. Architecture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D3711-292F-405D-9512-F7B43682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33700"/>
            <a:ext cx="1733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Specify smart-contract escrow, API, database, roles, and payment 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EF364-B74B-4264-81BA-FF131571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2D19E-DA96-4214-A088-016A0D8E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0125D-45D3-418D-A157-10825915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289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3. Prototype 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5965A-5257-4474-9EEC-DFF60F7F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33700"/>
            <a:ext cx="1733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Implement Next.js frontend, Express API, Prisma schema, and Solidity contract.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FDABA-CEB9-4EBF-B7A5-5C7D3CB1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1273E-018A-4C7C-8935-8F30FE95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9C307-CCAE-42C8-877C-FAA2A08B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4. Technical evaluation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56A11-94E2-4BEF-B13A-D955297A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33700"/>
            <a:ext cx="1733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Compile, deploy, test endpoints, verify escrow transaction, and prepare UAT framework.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A1015-9572-4A24-8C42-D6790F1D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908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132AF-426F-4C31-A9CF-62949EA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33725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06395-1F6D-4FD6-A41D-030532FA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908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3B0C7-32DE-4C74-B7A2-53ACD038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33725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6C50B8-CA09-442D-BB68-47E616C2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908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985BB5-5B83-418E-826C-ACED2E2D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33725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0138FE-4D66-4803-8480-CB1C8966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The artifact is evaluated through objective completion, technical verification, and a prepared user acceptance study framework.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AAAF9-1A3E-4F3A-AD7B-3ABBF14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6205C5-B1FC-4B66-AA06-CF25B988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78033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831E5-69EC-4916-A1FB-EB87A0FB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0">
            <a:solidFill>
              <a:srgbClr val="F3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9347E-B731-41ED-AA30-70E42F7A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6250998-5917-4991-8C0F-650D4729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51E8471-1846-495F-91AF-30DB288F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SOLUTION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1EBD2-2D43-4B2D-8DCC-9221503A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The platform separates user experience, booking logic, verified records, and escrow settlement.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2DEA6-D1EF-4FA6-A265-E24E42ED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238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D6762-A686-4C08-BC4C-8D74A5FB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AD40D-5EF1-4D09-82C6-510705D4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Frontend PWA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0AC2A-9883-481B-AF58-FB03AEA1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19716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Next.js 14 + React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Properties, booking, KYC, wallet, admin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889D8-C722-4C12-8036-1A37FF3F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428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D6AE6-7753-4A6C-82A2-3980D311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428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A7960-3C49-44E0-8251-CCF325CB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2162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Backend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05A21-DBDC-4A26-A904-DF3A35B2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90825"/>
            <a:ext cx="21621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Express + TypeScript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Auth, properties, bookings, payments, fraud, notifications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DCD6F-851B-440F-A588-24E09D64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19250"/>
            <a:ext cx="2238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2ABDC-526C-4F9D-90F8-73C454AE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192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89D75-5068-4FD4-ACF1-275943E4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7716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MySQL database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7F2FC-55AC-4EBC-883F-31C21795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76450"/>
            <a:ext cx="1971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Prisma ORM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Users, listings, bookings, payments, reviews, documents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7FA1E-F49A-4895-BAC4-A6DACCFF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2238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8A039-2EAF-4FFC-A4EC-57CB81E1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94C73-8EA1-40B0-9D8D-EFBCC9D7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438525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Ethereum escrow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584F8-288D-4051-ACE2-BADA91B9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743325"/>
            <a:ext cx="1971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Hardhat + Solidity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Lock, release, refund, dispute, fee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39D8BB-5C4C-4DBB-B452-AB43CD8D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F46B2-A6C5-4EFF-A815-5586F246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074706-5DC7-4EC5-BE91-5CFCF0B3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860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Admin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8358A-0799-431A-91D2-2227D547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90825"/>
            <a:ext cx="15430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Approvals, fraud alerts, disputes, reports, commissions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34C9E-F920-4FBD-A3A0-9607ED11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28950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C5449-AC32-4AF9-9181-10590855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97180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BAADD1-8C7E-4F6E-89FC-317924CF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E6588-61AB-404B-B71B-684F0098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1460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B505CD-4292-4E58-872D-635BA2A3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6A1D4-CCDB-436B-B17B-0B11D81F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5760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7E9558-BD38-4F8F-BF53-7E5CBCD0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2895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8835F4-6B9F-42E9-99E3-74A8DC48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747076-6517-4C8E-88C2-D496BD42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Design principle: tenants can use familiar web and mobile payment flows while high-risk deposits receive blockchain-backed accountability.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90407B-6C9F-4A57-892B-575CD356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639F1D-5746-42AF-97D4-34E69E69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62012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BA98FA-40C5-45FF-BF10-51CFD936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21202-B801-4D86-8952-3F173E8B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317F464-C0FF-44C7-B767-DC92AD49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073D6B-3E10-4E3B-AAA6-184ACE95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ESCROW MECHANISM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BA156-F33E-4398-9E69-BEC137C2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Smart-contract escrow changes the booking from trust-first to condition-first.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E7297-4D3D-4B5C-BBD9-B9EBDDB4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C221A-10A0-4293-9755-316ACCD3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16D"/>
          </a:solidFill>
          <a:ln xmlns:a="http://schemas.openxmlformats.org/drawingml/2006/main" w="0">
            <a:solidFill>
              <a:srgbClr val="5D71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7BE30-B3BA-4181-B768-F0682D40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90775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Created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35CDF-3C58-478E-A244-0D9B98A2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95575"/>
            <a:ext cx="144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Booking request is recorded with tenant, owner, property, amount, and timeout.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68CE0-40DD-49E3-9853-181A54D6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38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10500-2DE0-45FF-83F4-FC7E1EAB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3837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189A6-1365-4737-A98A-ABD5F29C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90775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3404F-CA28-4D9F-9F16-5F227ED9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95575"/>
            <a:ext cx="144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Deposit is submitted and held by the RealEstateEscrow contract.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E5C8C-FA6C-49F1-8D7D-1DF4FE74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866D2-99D3-4AB0-A59F-628CA926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18D74-0081-48BC-8757-CC927F83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390775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850B5-A9CC-4100-B339-81041D38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95575"/>
            <a:ext cx="144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Tenant and owner both confirm handover before funds are released.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4C250-6CE6-4482-B2EE-B2F33C9D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95425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56C61-FF4E-4A17-8121-5F86F5C4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954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F22E4-4263-472B-BFEC-6FBF380F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478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EEEBC-F091-4269-8298-9C802D79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52625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Owner receives deposit minus platform fee.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79095-252E-4B68-8FB4-88826356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90875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CF5E13-FD3E-4030-8C12-2630F91B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9087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745929-80B9-4994-A9F5-8E2AE32A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432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Refunded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3AAEFA-9E0A-4A19-B42B-F942C219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48075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Timeout, cancellation, or admin decision returns funds.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F1F089-EB41-445A-B6DF-46A3774C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7BC2A-92FB-41DB-AF58-98D1EA44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19976D-7571-475A-BF90-0E965711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86025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Disputed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FA4B67-BA76-4DFB-B3E3-82FA22F6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90825"/>
            <a:ext cx="144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Admin reviews evidence and resolves on-chain outcome.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FEE597-1306-42C4-BC4A-3F3090E4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527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7916C2-F032-4BAC-84B7-7FE4F1A4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9560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B34012-8A86-406B-BA61-5AD34798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448416-E22A-4DDD-A481-24220F9F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9560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334AC8-449D-4218-8035-BC9D856E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622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830FCA-AD62-4DEB-8256-12A374D2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0510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6A7297-8DA8-4A06-B09A-261CFD2F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242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DF1617-13C5-4462-AA09-9CA11D4C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6710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394EB0-2239-45B4-A66B-A9D27854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67125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BE2A18-B8FA-4BDE-AAE1-C1056400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09975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A0510D-9BED-4D66-B3B2-49D7CFCB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91125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Contract controls: ReentrancyGuard, Pausable, configurable 2.5% fee, timeout refund, admin dispute resolution.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5F0E40-60F8-4B87-88C1-C9365436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595854-95A3-46AD-B81E-31D067FC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10232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142866-4BC5-4C78-A5FE-E0D04853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52AC6-09C4-47A5-BD29-DB3FC6F2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C8F43DB-4EF2-4E65-A48F-117740A6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552407-EF5E-4FEF-9E7B-C1EA2A16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38EEF-1B0B-4513-897B-37B7E2F5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The data model supports trust workflows, not only property listing.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e0db93ca146b7"/>
          <a:stretch xmlns:a="http://schemas.openxmlformats.org/drawingml/2006/main"/>
        </p:blipFill>
        <p:spPr>
          <a:xfrm xmlns:a="http://schemas.openxmlformats.org/drawingml/2006/main">
            <a:off x="2430340" y="1733550"/>
            <a:ext cx="3006969" cy="4343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2BFB9-52D2-4BB0-A32C-2597104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Core entities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DD228-2127-4F26-8FFA-7BCD6D2E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3314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82349-B586-4D51-B35D-27021756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28900"/>
            <a:ext cx="1571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User + 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7B552-5D1E-48AB-B879-6F4E6B02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Roles, KYC, wallet, 2FA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290C9-77E8-48B9-8029-769D0ADE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81350"/>
            <a:ext cx="3314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888E4-29BF-4DD5-B6A4-2D52A71A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57550"/>
            <a:ext cx="1571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Property + Documents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D68D6-4AD8-4334-BCB7-550D35C9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Approval workflow and ownership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786D9-3CEE-4DB1-ACB0-F5B65896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3314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62A23-A1CE-4182-A0CB-3BA9E433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86200"/>
            <a:ext cx="1571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Booking + Payment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A2EC1-BF67-42C6-BB9E-9289E470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862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Lifecycle, dates, method, transaction hash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A6872-3F9B-4EC3-895A-47D5A1AF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3314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DF93E-9F8A-4B31-BAF0-1F2077ED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14850"/>
            <a:ext cx="1571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Dispute + FraudAlert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55D8E-F4D0-4F0D-9F8B-E6165C24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14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Exception handling and automated monitoring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B6E78-152B-4A31-A00A-467B7EFC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3314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50333-1B68-4BEF-84A3-7A84B6F6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43500"/>
            <a:ext cx="1571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Review + Message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77E42-2E35-4A70-9020-B698EB4C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Post-booking trust and communication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5F5B0-9854-4171-A792-B9327E07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9F3570-8E63-439C-AC05-F6F8CE71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4315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3541E9-EECD-4063-B1A9-D0EC89B2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78556-DE27-428F-8E04-87CE7B74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CD05CA9-6B65-479E-94CD-00164EEE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5C9B6DC-9DA4-4662-B515-CF63740C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USER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886A7-5F30-4890-BB55-01AAA293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The interface makes decentralized booking usable through familiar screens and payment options.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94538-3E80-4D70-B75D-FC8D6B73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34480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0cd0b85c449d7"/>
          <a:srcRect xmlns:a="http://schemas.openxmlformats.org/drawingml/2006/main" l="0" t="25995" r="0" b="259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3333750" cy="2190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C2C77-9730-484F-9DA2-225CD2F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95475"/>
            <a:ext cx="34480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843a9afbe498a"/>
          <a:srcRect xmlns:a="http://schemas.openxmlformats.org/drawingml/2006/main" l="0" t="20130" r="0" b="20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952625"/>
            <a:ext cx="3333750" cy="2190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CD051-E04D-4E38-885B-5BF5643A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95475"/>
            <a:ext cx="34480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6af17519e4ca3"/>
          <a:srcRect xmlns:a="http://schemas.openxmlformats.org/drawingml/2006/main" l="0" t="13806" r="0" b="138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7200" y="1952625"/>
            <a:ext cx="3333750" cy="2190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BCDE0-EB60-48DB-AF4F-D0C98C2A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4ACA2-BE29-44DF-A164-F2B19B34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1012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Browse Kigali listings with district and property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A8ADB-DE1B-44AD-B23A-4E32A3F0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A2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A26B"/>
                </a:solidFill>
                <a:latin typeface="Aptos"/>
                <a:ea typeface="Aptos"/>
                <a:cs typeface="Aptos"/>
              </a:rPr>
              <a:t>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57E3F-59D5-4AE3-B5C6-2F4C0E56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1012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View property details, request dates, and start deposit 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40613-FEA3-4782-94F1-7F1E8392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A1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A135"/>
                </a:solidFill>
                <a:latin typeface="Aptos"/>
                <a:ea typeface="Aptos"/>
                <a:cs typeface="Aptos"/>
              </a:rPr>
              <a:t>Pay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E3BBF-B6A5-4A9E-A360-AEC9FA74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0125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Use wallet, MTN MoMo, or card while escrow is tracked.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D9293-DC25-48FD-8A09-57EFCEF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BC4F9-A667-4BB9-894D-CB79D00C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28363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5ABDF0-597E-4794-AE05-080FB332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0">
            <a:solidFill>
              <a:srgbClr val="F3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BB871-4C85-4B85-8191-6D9269F5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3A01BA-9245-4C8A-945B-EB6C9F86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9F12CE4-C862-467A-A5A9-03674729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IMPLEMENTATION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6FCE1-2DC4-4819-AFA2-0E90A946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The prototype is operational across frontend, backend, database, and blockchain services.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7DAD4-9A0B-4429-B7BE-7E4B070D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158C1-3890-440B-8114-BBE707D5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E717D-8336-483C-8E28-8142BA54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676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7C7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D7C78"/>
                </a:solidFill>
                <a:latin typeface="Aptos Display"/>
                <a:ea typeface="Aptos Display"/>
                <a:cs typeface="Aptos Display"/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E4DDD-6455-4E96-AB4E-347D5600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Frontend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FF338-B7E9-407D-AFEF-5C3CF5D8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PWA build generated successfully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55DAF-E80F-4401-B3C5-D8A565F6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0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442F4-7DB5-48B0-B449-FB6E231F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1A7A1-431D-42A1-A3B0-DD6B9932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52650"/>
            <a:ext cx="1676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A26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0A26B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5E92B-81F5-4F86-A2DC-C0BAE0C4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95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Route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AADA0-2FA5-4C43-ACA6-3C2DB8C5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622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80+ backend endpoints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92A64-EA02-4CF7-8A35-A51B782C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221C3-F2D7-4A14-9A78-814A69CD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6B8A6-1AC4-4B61-98E9-9E29A70D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1676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A13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8A135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39B1A-461E-44DA-BF01-2659C639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TypeScript errors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378C7-AE00-4289-892D-45CF4D2F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Backend compile check passed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38C7A-B2D6-4E46-B2F9-B88D96DA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00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AB578-E979-4627-B65F-E9427838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00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E1180-D75D-4508-BB7C-F3E1044D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52650"/>
            <a:ext cx="1676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74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9574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8C379-6871-4C62-AE64-617D8AC9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95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Verified escrow tx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E7DECF-C611-4C7C-9B97-653D6D38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622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Deposit locked on-chain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12F4AA-8955-46B1-984E-C5AE5A4E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33051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aa50c59134345"/>
          <a:srcRect xmlns:a="http://schemas.openxmlformats.org/drawingml/2006/main" l="0" t="9256" r="0" b="92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3714750"/>
            <a:ext cx="3190875" cy="1714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19D75A-E48F-4CD4-B67F-4DE6B1CA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57600"/>
            <a:ext cx="33051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ac145a5074bb2"/>
          <a:srcRect xmlns:a="http://schemas.openxmlformats.org/drawingml/2006/main" l="0" t="21223" r="0" b="212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4375" y="3714750"/>
            <a:ext cx="3190875" cy="1714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BC2D4B-76C5-486B-8FD5-CD50CE78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3051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dceee2bf24324"/>
          <a:srcRect xmlns:a="http://schemas.openxmlformats.org/drawingml/2006/main" l="0" t="7015" r="0" b="70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3714750"/>
            <a:ext cx="3190875" cy="17145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16F461-9CC6-4BBD-B2B7-4F939ED3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A44EF1-F070-4A86-81B4-B7B68970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71988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5AD11E-E91F-43E4-B3FA-29503866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65621-1809-42D7-A940-4DC42FD5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A2EC1BC-9A00-4D2D-93AD-89D18C50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52B4965-E12E-42E1-B5AA-A4E945BC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SECURITY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452D0-FF6C-45DE-AE5C-1B7AC3A5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Security controls are layered around identity, input, payment, and smart-contract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90F69-DF6F-4872-9992-E67A2169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JWT + refresh 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9A475-920C-49ED-938A-79DA2B08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050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60DFC-4CA4-4513-B034-A1A3BAC5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05025"/>
            <a:ext cx="19278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91A79-4A11-487C-A4EC-D341003C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DA2CA-CDF3-455A-970A-C9C53F9A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Role-based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8072D-2CF7-4784-8068-2412C4E9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A9034-1A2A-4485-A801-2B735468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184404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B5F79-B65C-4EDF-8C6D-E702E485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A2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A26B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A97A3-784D-4242-BC1B-4A4645CF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Zod input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3894A-6383-4692-AB6E-0FDF2ACC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5277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435B8-54F6-4B22-A08C-C2FEBD14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52775"/>
            <a:ext cx="1885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ECE9A-7492-48B4-8839-62D528EC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1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135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5CC83-6D06-41C3-8A7D-62D119EF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KYC + property docs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F8BAC-AE0C-430D-9EBA-FEDB4120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7665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94770-4336-4E09-9042-349D8D41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76650"/>
            <a:ext cx="171831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27B11-856F-4EB3-90CF-B3532AB8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99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80528-A141-4457-9525-32B14F74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2FA + rate limits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1B115-AD94-4278-9767-1D6887F1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005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9558B-E435-4643-A319-89E0FE8E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00525"/>
            <a:ext cx="15925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A1F49-F716-4F6F-98DA-D9CB5FF4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A2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A26B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8222B3-B7B2-40A3-A667-2A213064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Fraud detection rules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47AE0-396F-4398-A388-7C38E22E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38649F-8FE4-440A-ADDA-E2F6600D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155067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70F10D-803E-4A1F-93B1-8135B10F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577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7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74B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8411CD-00D7-49C6-95CE-7A9E813A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A"/>
          </a:solidFill>
          <a:ln xmlns:a="http://schemas.openxmlformats.org/drawingml/2006/main" w="0">
            <a:solidFill>
              <a:srgbClr val="0921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2BF819-1D8A-4C9C-848F-0AEFBDD7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Smart-contract safeguards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682254-B717-4212-A436-7ED582DF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64DCE1-D70C-4D70-A5EA-5FC7444F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241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1EE"/>
                </a:solidFill>
                <a:latin typeface="Aptos"/>
                <a:ea typeface="Aptos"/>
                <a:cs typeface="Aptos"/>
              </a:rPr>
              <a:t>OpenZeppelin ReentrancyGuard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4FFBA6-D209-4850-9B7F-93E6EF67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F91788-B332-4EDE-9CD1-CD9D72C2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051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1EE"/>
                </a:solidFill>
                <a:latin typeface="Aptos"/>
                <a:ea typeface="Aptos"/>
                <a:cs typeface="Aptos"/>
              </a:rPr>
              <a:t>Pausable emergency 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FA39F0-529D-48F6-8125-101D1BDD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0761BB-8143-43C7-AC84-E4EFE8D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861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1EE"/>
                </a:solidFill>
                <a:latin typeface="Aptos"/>
                <a:ea typeface="Aptos"/>
                <a:cs typeface="Aptos"/>
              </a:rPr>
              <a:t>Dual handover confirmation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D12507-A24C-43B0-969F-8BBCE7D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A061B3-9AF6-489B-BEAF-77403A1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671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1EE"/>
                </a:solidFill>
                <a:latin typeface="Aptos"/>
                <a:ea typeface="Aptos"/>
                <a:cs typeface="Aptos"/>
              </a:rPr>
              <a:t>Timeout-based refund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CD4C2B-6972-463A-93D0-5C8A2A72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DD70CA-BAA9-4F21-A8EF-04F22B29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481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F1EE"/>
                </a:solidFill>
                <a:latin typeface="Aptos"/>
                <a:ea typeface="Aptos"/>
                <a:cs typeface="Aptos"/>
              </a:rPr>
              <a:t>Admin dispute resolution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6D298B-EEC7-4E84-ADAE-C944B22E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8DFF54-EFE3-4CB1-9CD9-EE3D6CB2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77199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C61F48-C864-4B12-91EC-54B2734B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EDF1B-EFC7-4962-8A84-1EA71137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22997AD-4A92-4BD1-9F3A-C39C77EC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0716CE-0830-463C-BF90-B1E35727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6D5CD-B74D-4D02-9A24-08128406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The system has technical evidence now; live user validation is the next research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A2660-93D6-45FA-AD91-0D30C522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1432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8BA43-6D4E-488A-ACAF-FE74F2C1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Technical verification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63822-A5D7-47FD-8699-A87FC25C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A2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A26B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F13FD-F397-4659-B229-10E693A9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B790F-C26D-443E-B5C9-A3C4F1C2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Backend TypeScript compile: zero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E0C4D-C257-432E-A15E-3740307D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59CFD-81F8-49E6-8350-D6A3D395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Frontend production build: 32 static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C7E3C-7731-4517-8DDE-FDFA17CE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FF5E0-F1D6-4227-9A7D-E93211ED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Blockchain escrow deployment and test tx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6AEA1-1727-43DF-9EFB-7CBD85A0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FFF88-B49B-47ED-B7A9-1E12BD57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243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Database synced with 27 Prisma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6E954-B289-46B8-9307-B5D3D9F2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31432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19A0B-9D81-4459-AA6E-B40DB347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66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User acceptance framework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3EC4F-AFC4-4969-A2FF-D754DB11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146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8A1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135"/>
                </a:solidFill>
                <a:latin typeface="Aptos"/>
                <a:ea typeface="Aptos"/>
                <a:cs typeface="Aptos"/>
              </a:rPr>
              <a:t>Prepared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DA016-7A64-4B4F-A30C-BB87C242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43F72-35FC-44F0-B9C1-40BC1028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38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UAT methodology for 12-20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21666-0EFD-4D03-87F7-582D7BEE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FB001-4735-4488-8978-9C4315C0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SUS usability questionnaire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21402-1FB8-4FCF-8775-35B1678A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2DD03-6AED-4FE3-BECE-C3E994A9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95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Perceived security questionnaire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653B36-CEC3-4B41-99D7-CA0F766E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FE32FE-F207-4121-B36C-64FFC886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243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Comparative analysis against traditional agents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B58FB8-DAF8-4BE5-98E8-F3649116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1432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2B86F5-7ADD-436E-A6DB-4C15FB22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Production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886F35-2B81-43BB-8E54-3164195E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462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57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574B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39962-29E6-4C86-9A39-24672F8B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AC6E63-3F00-4D4E-A89D-09E27AD5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No live user study completed yet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57B01A-F831-4663-B896-1FEB8A68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62C8E5-2FA3-4A80-A391-E8BC2E28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671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No fraud-prevention metrics over 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8A4FC6-AB14-41D9-B2BF-192FD07E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29E0E5-93E6-40A1-A736-055D276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Load testing still required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34BA39-D142-4D53-B54D-9B56F725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79BE95-8604-4769-A7A2-9B6C11A1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243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Native mobile app not completed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AA7646-A780-4DC2-B59A-1BCCDB5C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E9DF2E-CA77-443F-999B-CCDBA809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14352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02BDB0-A004-43E7-A453-AF253374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15863-AD50-4358-A128-E280AE4F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D19C666-E15C-4F5E-8FB3-0FC33DC8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7553FC-1E85-4750-B143-55E207D3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OBJECTIVE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B5499-9866-4A89-87B2-D426FF86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Two objectives are fully achieved; two are substantively built with clear remaining validation gaps.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72F3E-DBA9-46A7-8072-7C3FA18D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A"/>
          </a:solidFill>
          <a:ln xmlns:a="http://schemas.openxmlformats.org/drawingml/2006/main" w="0">
            <a:solidFill>
              <a:srgbClr val="0921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73CAB-7C3D-4F2A-82E8-8DD6E30B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3EC07-0A74-4CF1-B402-10206CAD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DDCBD-01EB-47AF-9262-5255F26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Defense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84DCE-BB95-4B91-947D-7B0F3C69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47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4525B-A05C-4A6C-801F-9980CBC9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857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AC33B-92E8-4D8D-86B6-FB9EB2B9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Analyze vulnerabilities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77B5C-26F7-4359-89B1-BCA78AFD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908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A2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A26B"/>
                </a:solidFill>
                <a:latin typeface="Aptos"/>
                <a:ea typeface="Aptos"/>
                <a:cs typeface="Aptos"/>
              </a:rPr>
              <a:t>Achieved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5F69B-615F-4B80-B8C6-B254575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Architecture addresses deposit theft, double-booking, dispute bias, KYC, impersonation, and fraud signals.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C07CC-DB8E-42FC-A30D-07526DE1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47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65021-26E8-468A-A15E-E532E6FE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857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64ACC-DA2E-4F23-85D9-8687AAB0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Design escrow architecture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D3BC0-C4E8-4140-AC2F-CADC2F51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290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A2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A26B"/>
                </a:solidFill>
                <a:latin typeface="Aptos"/>
                <a:ea typeface="Aptos"/>
                <a:cs typeface="Aptos"/>
              </a:rPr>
              <a:t>Fully achieved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E819D-F828-4A66-8CE4-40CF0ED9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RealEstateEscrow contract deployed and verified with booking state machine and conditional release.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9CED9-3A34-4685-933F-E71886CC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47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540EF-B501-43B5-A2DF-F64785A5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857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A38F6-5D16-4E92-B48F-B19AE9FD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Build user-friendly dApp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6A31D-D18F-49E5-9937-D96F5F7F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672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1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135"/>
                </a:solidFill>
                <a:latin typeface="Aptos"/>
                <a:ea typeface="Aptos"/>
                <a:cs typeface="Aptos"/>
              </a:rPr>
              <a:t>Partially achieved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F2B35-FFFA-4249-8022-5C924618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Responsive PWA completed; native mobile app and biometric/offline features remain out of scope.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B60496-5520-4434-8217-EC88C050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47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318AB-1402-478A-B890-58332E26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857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6FCDF-A2E8-4F4B-9BF0-1FB4B8C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Evaluate effectiveness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CD93B-2B4B-4FEF-A587-518D00A4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054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1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135"/>
                </a:solidFill>
                <a:latin typeface="Aptos"/>
                <a:ea typeface="Aptos"/>
                <a:cs typeface="Aptos"/>
              </a:rPr>
              <a:t>Partially achieved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C3E59B-604B-482B-86DA-03EC0E25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Technical evaluation and instruments delivered; live Kigali user study remains pending.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544DB9-4F7E-4817-8C00-533D2243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007010-63AA-49F0-AADD-20C36B22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00708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CF28FD-8EB9-49B1-A907-FF383751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0">
            <a:solidFill>
              <a:srgbClr val="F3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8677E-AB58-468F-9D18-1D636308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4F01E6D-D5C1-47C9-8F3F-89A2466B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8F0B70-A25B-47ED-B8C9-DC989067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LIMITATIONS AND FUTURE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D661B-D775-4364-894C-C318DB44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The next phase moves from verified prototype to field-tested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C7AAD-CBF6-4004-B887-0DF99BFE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7BD7E-F03E-4CA7-BC2F-28C8D789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422A7-BDBE-432E-B484-BD632791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066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Current limitations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1977F-3151-4FA2-81B6-36385C6F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669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No completed live user study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Responsive web app, not native mobile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No long-term production fraud 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A496F-0F9B-4BB9-8FB5-4459BAC5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040FB-8E59-4D53-BFD3-064790F4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CDF56-4B29-41B9-B6E6-732C4197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47900"/>
            <a:ext cx="2066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Near-term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93F13-933D-4C38-8E6C-A7C39537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52700"/>
            <a:ext cx="20669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Conduct UAT with Kigali tenants and owners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Run load and security tests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Deploy staging environment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49985-389F-43AB-B712-BEABA64A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5797C-20BA-4354-AABD-0E0538B4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22ACD-1DD5-4B74-B176-04E0C341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2066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Product maturity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115D7-875D-4714-B69D-072F88B0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20669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Add native mobile app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Improve offline support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Expand MoMo/Card production integrations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56E69-7303-4933-B882-2742CB10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955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851F8-E2FE-4841-BF26-AB780675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95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AFAA1-CEAD-4C98-BF29-827F14B5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47900"/>
            <a:ext cx="2066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Research extension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9F35A-9811-4E96-AE93-FFF58F47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552700"/>
            <a:ext cx="20669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Measure fraud reduction over time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Compare escrow trust against agent-mediated booking</a:t>
            </a:r>
          </a:p>
          <a:p xmlns:a="http://schemas.openxmlformats.org/drawingml/2006/main">
            <a:pPr algn="l">
              <a:defRPr sz="938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Study blockchain comprehension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27D4B-3EA7-48FA-903A-2B02A380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Most important next evidence: real users completing end-to-end bookings and reporting whether escrow increases perceived deposit safety.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3ADA6-4592-469F-90FB-FFB4292A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71B8FF-5CEB-45BC-B3E9-5A3C14F5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499349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5576AB-05F6-4726-9574-DAA76D0C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A"/>
          </a:solidFill>
          <a:ln xmlns:a="http://schemas.openxmlformats.org/drawingml/2006/main" w="0">
            <a:solidFill>
              <a:srgbClr val="0921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736E9-B6A5-4014-963A-7D5ADA62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C4BC8-2298-4F1F-8A79-0A69B72C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A2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A26B"/>
                </a:solidFill>
                <a:latin typeface="Aptos"/>
                <a:ea typeface="Aptos"/>
                <a:cs typeface="Aptos"/>
              </a:rPr>
              <a:t>DEFENSE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60A01-D05C-4F23-BC0D-2800F428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contribution is a working trust layer for rental booking, not only another listing website.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83E41-610B-4AD4-A947-00745D79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04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F1EE"/>
                </a:solidFill>
                <a:latin typeface="Aptos"/>
                <a:ea typeface="Aptos"/>
                <a:cs typeface="Aptos"/>
              </a:rPr>
              <a:t>By locking deposits in escrow, verifying property evidence, and giving administrators auditable dispute and fraud tools, the platform directly addresses the highest-risk moment in Kigali rental booking: paying before trust is proven.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EAED1-A17B-4CF6-B034-C5984E4A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FCA31-45AC-4766-B7F2-2AAF753B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2F057-EABE-4AC9-AF5C-18F0B716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86275"/>
            <a:ext cx="1295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A26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0A26B"/>
                </a:solidFill>
                <a:latin typeface="Aptos Display"/>
                <a:ea typeface="Aptos Display"/>
                <a:cs typeface="Aptos Display"/>
              </a:rPr>
              <a:t>Escrow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C4687-EB9F-4D22-91E5-FB494B3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Core innovation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7283D-974C-4245-8283-0847B112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Condition-based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F84E8-66F5-449A-AE7D-4277D26D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33875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39E11-29D9-4C02-933D-28940C78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33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ED336-4EAD-4DC8-8748-4AADD437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86275"/>
            <a:ext cx="1295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A13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8A135"/>
                </a:solidFill>
                <a:latin typeface="Aptos Display"/>
                <a:ea typeface="Aptos Display"/>
                <a:cs typeface="Aptos Display"/>
              </a:rPr>
              <a:t>PWA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6AF7E-EAE3-4A8F-8325-4FBBF5FE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291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User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542D2-D68E-4448-9A48-66B5ABD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Mobile-friendly web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35652-19E3-45F3-BA02-78751141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33875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24B00-E1E1-466A-8C32-0944FE72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33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DF4A0-F652-4DAA-B056-52D15AD8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86275"/>
            <a:ext cx="1295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7C7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D7C78"/>
                </a:solidFill>
                <a:latin typeface="Aptos Display"/>
                <a:ea typeface="Aptos Display"/>
                <a:cs typeface="Aptos Display"/>
              </a:rPr>
              <a:t>UAT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7BC2D-5B74-4E2D-8F13-E241A3D6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291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Next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85685-390B-47F9-8A02-2BD73B17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95875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Field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44C34-FB70-401B-BF0A-267FE40F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00100"/>
            <a:ext cx="45910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939ca36e14156"/>
          <a:srcRect xmlns:a="http://schemas.openxmlformats.org/drawingml/2006/main" l="0" t="9381" r="0" b="9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857250"/>
            <a:ext cx="4476750" cy="40005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1A080-9108-43BB-A5D3-5DCFFA43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149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you. Questions?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AEA43-17F3-4E8B-AEC5-CF0BCF25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Bachelor of Technology Capstone Project | Defense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94D7D-B367-4DF4-A0F3-F8415D69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40190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2026-06-03T09:46:45.2780000Z</dcterms:created>
  <dcterms:modified xsi:type="dcterms:W3CDTF">2026-06-03T09:46:45.2780000Z</dcterms:modified>
</coreProperties>
</file>