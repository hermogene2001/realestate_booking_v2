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c80711adf84786" /><Relationship Type="http://schemas.openxmlformats.org/officeDocument/2006/relationships/extended-properties" Target="/docProps/app.xml" Id="R67e75423e0614a08" /><Relationship Type="http://schemas.openxmlformats.org/officeDocument/2006/relationships/officeDocument" Target="/ppt/presentation.xml" Id="R6106b4620e9f4f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68f57ef09949d5"/>
  </p:sldMasterIdLst>
  <p:notesMasterIdLst>
    <p:notesMasterId xmlns:r="http://schemas.openxmlformats.org/officeDocument/2006/relationships" r:id="Rf156c4751ce14bed"/>
  </p:notesMasterIdLst>
  <p:sldIdLst>
    <p:sldId xmlns:r="http://schemas.openxmlformats.org/officeDocument/2006/relationships" id="256" r:id="R9688270d9f4944de"/>
    <p:sldId xmlns:r="http://schemas.openxmlformats.org/officeDocument/2006/relationships" id="257" r:id="R643cdd6073a448ba"/>
    <p:sldId xmlns:r="http://schemas.openxmlformats.org/officeDocument/2006/relationships" id="258" r:id="R8f878ec1ae0e47e6"/>
    <p:sldId xmlns:r="http://schemas.openxmlformats.org/officeDocument/2006/relationships" id="259" r:id="R3415c118eced457a"/>
    <p:sldId xmlns:r="http://schemas.openxmlformats.org/officeDocument/2006/relationships" id="260" r:id="R9c35889c73264e8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68f57ef09949d5" /><Relationship Type="http://schemas.openxmlformats.org/officeDocument/2006/relationships/theme" Target="/ppt/theme/theme1.xml" Id="R48a3f59511d94ed1" /><Relationship Type="http://schemas.openxmlformats.org/officeDocument/2006/relationships/notesMaster" Target="/ppt/notesMasters/notesMaster1.xml" Id="Rf156c4751ce14bed" /><Relationship Type="http://schemas.openxmlformats.org/officeDocument/2006/relationships/presProps" Target="/ppt/presProps.xml" Id="Ra9a1a317305a4bb8" /><Relationship Type="http://schemas.openxmlformats.org/officeDocument/2006/relationships/viewProps" Target="/ppt/viewProps.xml" Id="R7d525a059c6d48cf" /><Relationship Type="http://schemas.openxmlformats.org/officeDocument/2006/relationships/tableStyles" Target="/ppt/tableStyles.xml" Id="R2ea7b650b7764fd0" /><Relationship Type="http://schemas.openxmlformats.org/officeDocument/2006/relationships/slide" Target="/ppt/slides/slide1.xml" Id="R9688270d9f4944de" /><Relationship Type="http://schemas.openxmlformats.org/officeDocument/2006/relationships/slide" Target="/ppt/slides/slide2.xml" Id="R643cdd6073a448ba" /><Relationship Type="http://schemas.openxmlformats.org/officeDocument/2006/relationships/slide" Target="/ppt/slides/slide3.xml" Id="R8f878ec1ae0e47e6" /><Relationship Type="http://schemas.openxmlformats.org/officeDocument/2006/relationships/slide" Target="/ppt/slides/slide4.xml" Id="R3415c118eced457a" /><Relationship Type="http://schemas.openxmlformats.org/officeDocument/2006/relationships/slide" Target="/ppt/slides/slide5.xml" Id="R9c35889c73264e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6c9867f688a46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98a2c7b21f48a6" /><Relationship Type="http://schemas.openxmlformats.org/officeDocument/2006/relationships/notesMaster" Target="/ppt/notesMasters/notesMaster1.xml" Id="R29190c00924a49e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9d9e6cae82e49fc" /><Relationship Type="http://schemas.openxmlformats.org/officeDocument/2006/relationships/notesMaster" Target="/ppt/notesMasters/notesMaster1.xml" Id="R1d50f4cc963541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0d3dc1847ae4138" /><Relationship Type="http://schemas.openxmlformats.org/officeDocument/2006/relationships/notesMaster" Target="/ppt/notesMasters/notesMaster1.xml" Id="R56356a183f6548d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90ad2a20ed547ff" /><Relationship Type="http://schemas.openxmlformats.org/officeDocument/2006/relationships/notesMaster" Target="/ppt/notesMasters/notesMaster1.xml" Id="Rce3cb7b0fddb47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8d8e0bf3c0349a5" /><Relationship Type="http://schemas.openxmlformats.org/officeDocument/2006/relationships/notesMaster" Target="/ppt/notesMasters/notesMaster1.xml" Id="R1cd23ce89b9e44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a63a6b102f4d5d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f8e35c0b6ac472c" /><Relationship Type="http://schemas.openxmlformats.org/officeDocument/2006/relationships/slideLayout" Target="/ppt/slideLayouts/slideLayout2.xml" Id="R2bb61787080843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b61787080843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f0e3e97c0c40a1" /><Relationship Type="http://schemas.openxmlformats.org/officeDocument/2006/relationships/image" Target="/ppt/media/image.png" Id="Rc23c3654da134bb9" /><Relationship Type="http://schemas.openxmlformats.org/officeDocument/2006/relationships/notesSlide" Target="/ppt/notesSlides/notesSlide1.xml" Id="R57c66e33f0be466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0d8a93712f54c49" /><Relationship Type="http://schemas.openxmlformats.org/officeDocument/2006/relationships/notesSlide" Target="/ppt/notesSlides/notesSlide2.xml" Id="R35fbf8f782664ef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211834aba54008" /><Relationship Type="http://schemas.openxmlformats.org/officeDocument/2006/relationships/notesSlide" Target="/ppt/notesSlides/notesSlide3.xml" Id="R3d650b312b25459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bf2f0eac754863" /><Relationship Type="http://schemas.openxmlformats.org/officeDocument/2006/relationships/image" Target="/ppt/media/image2.png" Id="R241fed95346344b7" /><Relationship Type="http://schemas.openxmlformats.org/officeDocument/2006/relationships/image" Target="/ppt/media/image3.png" Id="R4411b7792fea4099" /><Relationship Type="http://schemas.openxmlformats.org/officeDocument/2006/relationships/image" Target="/ppt/media/image4.png" Id="R842c21ff73e444b3" /><Relationship Type="http://schemas.openxmlformats.org/officeDocument/2006/relationships/notesSlide" Target="/ppt/notesSlides/notesSlide4.xml" Id="R4eb3a3dfb22b42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73dbd215c34eca" /><Relationship Type="http://schemas.openxmlformats.org/officeDocument/2006/relationships/image" Target="/ppt/media/image5.png" Id="Rab64654b929040f2" /><Relationship Type="http://schemas.openxmlformats.org/officeDocument/2006/relationships/notesSlide" Target="/ppt/notesSlides/notesSlide5.xml" Id="R844739a51b1243b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8A8458-90D7-456E-8883-C3D45D10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A"/>
          </a:solidFill>
          <a:ln xmlns:a="http://schemas.openxmlformats.org/drawingml/2006/main" w="0">
            <a:solidFill>
              <a:srgbClr val="09212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634FAE-DDCF-4409-BB30-C5C572A4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8"/>
          </a:solidFill>
          <a:ln xmlns:a="http://schemas.openxmlformats.org/drawingml/2006/main" w="0">
            <a:solidFill>
              <a:srgbClr val="0D7C7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2FE5FF-6294-4291-8433-9051ED597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38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A26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0A26B"/>
                </a:solidFill>
                <a:latin typeface="Aptos"/>
                <a:ea typeface="Aptos"/>
                <a:cs typeface="Aptos"/>
              </a:rPr>
              <a:t>CAPSTONE PROJECT DEFENSE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2ABEFC-78D9-4996-ACF1-8E477DE3D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5715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Blockchain-based real estate booking platform for secure rental deposits in Kigali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F389DF-54F8-443E-9ED2-B9CB0639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67050"/>
            <a:ext cx="5143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8F1EE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8F1EE"/>
                </a:solidFill>
                <a:latin typeface="Aptos"/>
                <a:ea typeface="Aptos"/>
                <a:cs typeface="Aptos"/>
              </a:rPr>
              <a:t>A focused 5-slide defense summary covering the literature review, old system, proposed new system, and full system architecture.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705EDE-AE44-4EB4-9C7C-90273B8D5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1190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721985-4B61-451B-A1C6-1B53DAB1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1000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D7C7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D7C78"/>
                </a:solidFill>
                <a:latin typeface="Aptos"/>
                <a:ea typeface="Aptos"/>
                <a:cs typeface="Aptos"/>
              </a:rPr>
              <a:t>Literature 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EDFDFC-61D2-4A93-8174-4BEB55FF1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619625"/>
            <a:ext cx="1190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80ED9E-F9A0-4C8B-96D2-6A0FD9F46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762500"/>
            <a:ext cx="1000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957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574B"/>
                </a:solidFill>
                <a:latin typeface="Aptos"/>
                <a:ea typeface="Aptos"/>
                <a:cs typeface="Aptos"/>
              </a:rPr>
              <a:t>Old 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EDB462-6156-4F1E-9B63-307929002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619625"/>
            <a:ext cx="1190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7AF0E5-D951-40B3-90C0-ED8186D7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62500"/>
            <a:ext cx="1000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A26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0A26B"/>
                </a:solidFill>
                <a:latin typeface="Aptos"/>
                <a:ea typeface="Aptos"/>
                <a:cs typeface="Aptos"/>
              </a:rPr>
              <a:t>New system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DF3A6E-A18B-4C9D-A3EE-F145F5C6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619625"/>
            <a:ext cx="1190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C07730-1718-4BA5-96AD-687E68CB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762500"/>
            <a:ext cx="1000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8A13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135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083641-3558-45EC-9B52-AC10FD22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685800"/>
            <a:ext cx="421005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E4"/>
          </a:solidFill>
          <a:ln xmlns:a="http://schemas.openxmlformats.org/drawingml/2006/main" w="0">
            <a:solidFill>
              <a:srgbClr val="DDE7E4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3c3654da134bb9"/>
          <a:srcRect xmlns:a="http://schemas.openxmlformats.org/drawingml/2006/main" l="0" t="10072" r="0" b="100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742950"/>
            <a:ext cx="4095750" cy="44767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74232D-C42F-4F92-9BA9-5471B1B8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Kigali Real Estate Booking Platform | Defense Deck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3A5033-1409-42E2-90AE-236492CF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D7C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D7C7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6200143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452BC2-BC4E-4AD4-9A54-4D3313CC6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A"/>
          </a:solidFill>
          <a:ln xmlns:a="http://schemas.openxmlformats.org/drawingml/2006/main" w="0">
            <a:solidFill>
              <a:srgbClr val="F7F4E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1921FD-DD7D-4697-B71E-824B24D4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8"/>
          </a:solidFill>
          <a:ln xmlns:a="http://schemas.openxmlformats.org/drawingml/2006/main" w="0">
            <a:solidFill>
              <a:srgbClr val="0D7C78"/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48DAF91-97DE-4EFC-8EDA-7DB8494E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8"/>
          </a:solidFill>
          <a:ln xmlns:a="http://schemas.openxmlformats.org/drawingml/2006/main" w="0">
            <a:solidFill>
              <a:srgbClr val="0D7C78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275A2CC-A567-4589-A956-4322B5832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"/>
            <a:ext cx="419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7C7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D7C78"/>
                </a:solidFill>
                <a:latin typeface="Aptos"/>
                <a:ea typeface="Aptos"/>
                <a:cs typeface="Aptos"/>
              </a:rPr>
              <a:t>LITERATURE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B0D67A-4D45-431B-81A8-24658800B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02B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0202B"/>
                </a:solidFill>
                <a:latin typeface="Aptos Display"/>
                <a:ea typeface="Aptos Display"/>
                <a:cs typeface="Aptos Display"/>
              </a:rPr>
              <a:t>Existing studies support digital booking, but trust and deposit safety remain the main gap.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9DC0E1-EC22-4927-ABA2-21E0269CF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C0D4BB-AF61-479D-BD26-05A96755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8"/>
          </a:solidFill>
          <a:ln xmlns:a="http://schemas.openxmlformats.org/drawingml/2006/main" w="0">
            <a:solidFill>
              <a:srgbClr val="0D7C7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74DA43-A2C2-49CD-9B7A-EAC82EA4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Online real estate platforms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11E2C9-3D9C-47C1-9EFF-C90AB4179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0350"/>
            <a:ext cx="20383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Prior work shows that digital listing systems improve property discovery, reduce search time, and make location/pricing information easier to compare. However, listing platforms alone do not guarantee safe deposit handling.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1D2CD9-4DD7-4AD3-9FAC-5BA227DE7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9075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E4A55C-1A1D-400B-98B2-1F159F1C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9075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26B"/>
          </a:solidFill>
          <a:ln xmlns:a="http://schemas.openxmlformats.org/drawingml/2006/main" w="0">
            <a:solidFill>
              <a:srgbClr val="20A26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6887F4-579F-4C07-96FD-7F71BEC2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3812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Blockchain escrow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17F01B-1652-44CC-AB79-012BFE48E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800350"/>
            <a:ext cx="20383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Blockchain literature highlights immutability, transparency, and programmable conditions. Smart contracts can hold funds until agreed events occur, reducing dependency on informal trust between parties.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C326FE-A3D4-4AAB-A888-49030C720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9075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174C54-4616-4443-B25D-15C9E6D9D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9075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5"/>
          </a:solidFill>
          <a:ln xmlns:a="http://schemas.openxmlformats.org/drawingml/2006/main" w="0">
            <a:solidFill>
              <a:srgbClr val="D8A13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040573-0E82-4694-AF2D-8978187C8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812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Identity and verification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4ADC55-8594-498C-90A4-EB9E8367D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00350"/>
            <a:ext cx="20383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KYC, property document checks, and role-based access are repeatedly recommended for reducing impersonation, fake listings, and owner/tenant abuse in digital marketplaces.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6AD381-39B7-47FC-AF81-EF1AAAB9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19075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B36F26-48D8-4AD4-8938-8A6800018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19075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74B"/>
          </a:solidFill>
          <a:ln xmlns:a="http://schemas.openxmlformats.org/drawingml/2006/main" w="0">
            <a:solidFill>
              <a:srgbClr val="B9574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D12AA5-66FD-422E-9739-3FF1B5295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3812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Mobile money context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09F083-C27C-4873-BBAE-0325814D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800350"/>
            <a:ext cx="20383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Rwanda's rental users need familiar payment paths. A practical platform must support non-crypto users through MoMo/card flows while preserving escrow accountability.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1A6A00-A132-4559-8EA3-A901046EC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19700"/>
            <a:ext cx="933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Literature gap addressed by this thesis: combine property booking, verification, local payment usability, and smart-contract escrow in one Kigali-focused system.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AB68D1-8CF0-499E-9C26-98EA110C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Kigali Real Estate Booking Platform | Defense Deck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F9E1C6-20EB-454C-9289-50FE7213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D7C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D7C7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8951549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128578-842F-4178-AA52-AA0AA91A7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A"/>
          </a:solidFill>
          <a:ln xmlns:a="http://schemas.openxmlformats.org/drawingml/2006/main" w="0">
            <a:solidFill>
              <a:srgbClr val="F7F4E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F35A73-439E-4760-9820-1D24AE8C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8"/>
          </a:solidFill>
          <a:ln xmlns:a="http://schemas.openxmlformats.org/drawingml/2006/main" w="0">
            <a:solidFill>
              <a:srgbClr val="0D7C78"/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8967EDF-3BD8-4AEC-B2CA-CEF17BC30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8"/>
          </a:solidFill>
          <a:ln xmlns:a="http://schemas.openxmlformats.org/drawingml/2006/main" w="0">
            <a:solidFill>
              <a:srgbClr val="0D7C78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B03A88F-6EB5-439E-BD7C-BD35F372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"/>
            <a:ext cx="419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7C7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D7C78"/>
                </a:solidFill>
                <a:latin typeface="Aptos"/>
                <a:ea typeface="Aptos"/>
                <a:cs typeface="Aptos"/>
              </a:rPr>
              <a:t>OLD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42C4FE-6DFB-431E-92C2-450BE688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02B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0202B"/>
                </a:solidFill>
                <a:latin typeface="Aptos Display"/>
                <a:ea typeface="Aptos Display"/>
                <a:cs typeface="Aptos Display"/>
              </a:rPr>
              <a:t>The traditional rental booking system depends on manual trust before payment risk is controlled.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0B0F9B-4DCE-4640-956C-01AEE98DC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3336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DF39F0-F00B-4FE2-9BC6-03F4D03DB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3336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74B"/>
          </a:solidFill>
          <a:ln xmlns:a="http://schemas.openxmlformats.org/drawingml/2006/main" w="0">
            <a:solidFill>
              <a:srgbClr val="B957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81AA22-294F-47FB-961B-B699C622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19907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1. Search manually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6F9FDB-6B55-4C82-9066-B553F656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19907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Tenant searches through agents, contacts, social media posts, or informal referrals.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2362D0-ED36-426E-926B-337EF85B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266950"/>
            <a:ext cx="23336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03A36E-84C9-4D74-BCBC-D46369E0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266950"/>
            <a:ext cx="23336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5"/>
          </a:solidFill>
          <a:ln xmlns:a="http://schemas.openxmlformats.org/drawingml/2006/main" w="0">
            <a:solidFill>
              <a:srgbClr val="D8A13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9C5DCD-D93D-453A-902F-81720A85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57450"/>
            <a:ext cx="19907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2. Inspect property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DF990B-D7D2-4053-8596-ABE6DEA89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76550"/>
            <a:ext cx="19907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Tenant visits or communicates with the owner/agent with limited digital verification.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6B0A08-8C26-4284-8546-F3F6B674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66950"/>
            <a:ext cx="23336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25E520-A2C4-4C00-8FE2-C769AF0B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66950"/>
            <a:ext cx="23336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74B"/>
          </a:solidFill>
          <a:ln xmlns:a="http://schemas.openxmlformats.org/drawingml/2006/main" w="0">
            <a:solidFill>
              <a:srgbClr val="B9574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AB39FA-D3B4-4FA4-977A-7912A8905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57450"/>
            <a:ext cx="19907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3. Pay deposit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47DF3F-B5F7-4E2A-8E4C-723CAF38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76550"/>
            <a:ext cx="19907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Deposit is paid directly by cash, mobile money, or bank transfer before handover assurance.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F9207F-D9CF-445F-A514-C48A29E10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266950"/>
            <a:ext cx="23336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2EF795-7B4D-484E-BF89-CF8A5A2A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266950"/>
            <a:ext cx="23336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8"/>
          </a:solidFill>
          <a:ln xmlns:a="http://schemas.openxmlformats.org/drawingml/2006/main" w="0">
            <a:solidFill>
              <a:srgbClr val="0D7C7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75C974-66A9-4196-97E8-B3FD7ACD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57450"/>
            <a:ext cx="19907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4. Resolve issues informally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C6956E-8780-4755-A95A-C4D11D96A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876550"/>
            <a:ext cx="19907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If fraud, double-booking, or dispute occurs, recovery depends on informal negotiation.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3BBD6F-C827-4CD6-8858-49CBE707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9574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9574B"/>
                </a:solidFill>
                <a:latin typeface="Aptos"/>
                <a:ea typeface="Aptos"/>
                <a:cs typeface="Aptos"/>
              </a:rPr>
              <a:t>Deposit theft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13A51C-8840-43D8-92B5-A1E1F6CB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Money holder can disappear or refuse refund.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3BF7BB-7348-4941-8F06-B6C191074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6863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9574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9574B"/>
                </a:solidFill>
                <a:latin typeface="Aptos"/>
                <a:ea typeface="Aptos"/>
                <a:cs typeface="Aptos"/>
              </a:rPr>
              <a:t>Fake ownership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A5853E-ADAD-4A99-B5D6-44E28C9AB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0292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Weak document verification enables impersonation.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D721B1-9731-4AB5-A42B-DF40C26ED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863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9574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9574B"/>
                </a:solidFill>
                <a:latin typeface="Aptos"/>
                <a:ea typeface="Aptos"/>
                <a:cs typeface="Aptos"/>
              </a:rPr>
              <a:t>Double booking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B4E57E-C2E6-431B-95B7-2C4E6D820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292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No automatic date conflict protection.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7C997E-9809-4ECC-AD90-493530B2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6863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9574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9574B"/>
                </a:solidFill>
                <a:latin typeface="Aptos"/>
                <a:ea typeface="Aptos"/>
                <a:cs typeface="Aptos"/>
              </a:rPr>
              <a:t>Weak evidence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F2B7B6-9E60-4004-8356-C24CF08C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0292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Limited transaction and dispute audit trail.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8EAAD5-4919-4632-BCB7-0B7A8FD51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Kigali Real Estate Booking Platform | Defense Deck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3972EA-C642-4982-9227-B992953A9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D7C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D7C7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8642499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1D1750-FD42-4A14-BDC4-2E1D0B84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5"/>
          </a:solidFill>
          <a:ln xmlns:a="http://schemas.openxmlformats.org/drawingml/2006/main" w="0">
            <a:solidFill>
              <a:srgbClr val="F3F7F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CF914D-B193-4CEC-83AC-AC6A773DA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8"/>
          </a:solidFill>
          <a:ln xmlns:a="http://schemas.openxmlformats.org/drawingml/2006/main" w="0">
            <a:solidFill>
              <a:srgbClr val="0D7C78"/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EE62CFB-1A3D-4569-A04F-4938CB27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8"/>
          </a:solidFill>
          <a:ln xmlns:a="http://schemas.openxmlformats.org/drawingml/2006/main" w="0">
            <a:solidFill>
              <a:srgbClr val="0D7C78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A49A9BE-1B4C-47A1-A0A2-70513CFD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"/>
            <a:ext cx="419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7C7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D7C78"/>
                </a:solidFill>
                <a:latin typeface="Aptos"/>
                <a:ea typeface="Aptos"/>
                <a:cs typeface="Aptos"/>
              </a:rPr>
              <a:t>NEW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0CD5AC-97F6-4612-89BA-FC41BD05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02B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0202B"/>
                </a:solidFill>
                <a:latin typeface="Aptos Display"/>
                <a:ea typeface="Aptos Display"/>
                <a:cs typeface="Aptos Display"/>
              </a:rPr>
              <a:t>The proposed system makes booking conditional, verified, and auditable.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1C7247-9AD9-4583-B586-E9F89DC25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2000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32E35C-2B0B-4BE7-8883-D03270FF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8"/>
          </a:solidFill>
          <a:ln xmlns:a="http://schemas.openxmlformats.org/drawingml/2006/main" w="0">
            <a:solidFill>
              <a:srgbClr val="0D7C7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70A0DE-6A70-48AD-9537-B8CD558B5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1657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Verified listing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59F42B-83B4-4189-BA2F-0FEAA2E28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47975"/>
            <a:ext cx="16573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Owner uploads property details and documents; admin approves before tenant trust is requested.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F2471A-5B52-4792-9698-48185574F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238375"/>
            <a:ext cx="2000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100AD6-9AFC-4D86-BC12-1FD6F7D36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238375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26B"/>
          </a:solidFill>
          <a:ln xmlns:a="http://schemas.openxmlformats.org/drawingml/2006/main" w="0">
            <a:solidFill>
              <a:srgbClr val="20A26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AAA75D-7493-495A-A3C4-CD93AC4C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28875"/>
            <a:ext cx="1657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Digital booking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D7CF6A-12E8-4469-8A52-BF5A68014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847975"/>
            <a:ext cx="16573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Tenant selects property, dates, and preferred payment method through the web/PWA interface.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FCFF8B-91E1-4E81-854C-13C9E8E0D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238375"/>
            <a:ext cx="2000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3F9ED5-3F24-428C-BE6E-8986F8869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238375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5"/>
          </a:solidFill>
          <a:ln xmlns:a="http://schemas.openxmlformats.org/drawingml/2006/main" w="0">
            <a:solidFill>
              <a:srgbClr val="D8A13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C30D60-39FB-405E-83CF-1CC68256D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428875"/>
            <a:ext cx="1657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Escrow locking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CC121E-49FD-42B8-966B-146410169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847975"/>
            <a:ext cx="16573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ETH, MoMo, or card payment leads to a tracked escrow record and transaction hash.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A99401-9E6E-4D10-A13F-B617555E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38375"/>
            <a:ext cx="2000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75B7BE-6972-482B-80BC-844E4BA12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38375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74B"/>
          </a:solidFill>
          <a:ln xmlns:a="http://schemas.openxmlformats.org/drawingml/2006/main" w="0">
            <a:solidFill>
              <a:srgbClr val="B9574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78A11A-05A7-4E46-A3B5-F17140170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28875"/>
            <a:ext cx="1657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Conditional release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8AA569-CD18-4CB2-A862-5393CAE4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47975"/>
            <a:ext cx="16573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Funds release only after handover confirmation or admin dispute decision.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1002CD-55AE-464A-BB4C-F35AAE00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914650"/>
            <a:ext cx="2952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8"/>
          </a:solidFill>
          <a:ln xmlns:a="http://schemas.openxmlformats.org/drawingml/2006/main" w="0">
            <a:solidFill>
              <a:srgbClr val="0D7C7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2C4601-8D01-4E11-8F73-C9C1E076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857500"/>
            <a:ext cx="0" cy="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D7C78"/>
          </a:solidFill>
          <a:ln xmlns:a="http://schemas.openxmlformats.org/drawingml/2006/main" w="0">
            <a:solidFill>
              <a:srgbClr val="0D7C7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23F945-7871-4DF3-AFAE-5DA8D23C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14650"/>
            <a:ext cx="2952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8"/>
          </a:solidFill>
          <a:ln xmlns:a="http://schemas.openxmlformats.org/drawingml/2006/main" w="0">
            <a:solidFill>
              <a:srgbClr val="0D7C7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DF22ED-889E-47C6-B7CF-851FF327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857500"/>
            <a:ext cx="0" cy="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D7C78"/>
          </a:solidFill>
          <a:ln xmlns:a="http://schemas.openxmlformats.org/drawingml/2006/main" w="0">
            <a:solidFill>
              <a:srgbClr val="0D7C7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37149E-96F0-4201-A465-D8B971A58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14650"/>
            <a:ext cx="2952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8"/>
          </a:solidFill>
          <a:ln xmlns:a="http://schemas.openxmlformats.org/drawingml/2006/main" w="0">
            <a:solidFill>
              <a:srgbClr val="0D7C7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1629D3-A8B2-44B0-BB6D-1BE67F5D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857500"/>
            <a:ext cx="0" cy="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D7C78"/>
          </a:solidFill>
          <a:ln xmlns:a="http://schemas.openxmlformats.org/drawingml/2006/main" w="0">
            <a:solidFill>
              <a:srgbClr val="0D7C7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BDB3B0-5E54-491B-A52D-2B75AFDB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29100"/>
            <a:ext cx="3114675" cy="149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E4"/>
          </a:solidFill>
          <a:ln xmlns:a="http://schemas.openxmlformats.org/drawingml/2006/main" w="0">
            <a:solidFill>
              <a:srgbClr val="DDE7E4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1fed95346344b7"/>
          <a:srcRect xmlns:a="http://schemas.openxmlformats.org/drawingml/2006/main" l="0" t="29076" r="0" b="290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50" y="4286250"/>
            <a:ext cx="3000375" cy="1381125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5E0AD2-C98F-4442-9416-AA14EB4E6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229100"/>
            <a:ext cx="3114675" cy="149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E4"/>
          </a:solidFill>
          <a:ln xmlns:a="http://schemas.openxmlformats.org/drawingml/2006/main" w="0">
            <a:solidFill>
              <a:srgbClr val="DDE7E4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11b7792fea4099"/>
          <a:srcRect xmlns:a="http://schemas.openxmlformats.org/drawingml/2006/main" l="0" t="24647" r="0" b="246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00550" y="4286250"/>
            <a:ext cx="3000375" cy="1381125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445B40-AD9A-458F-8D24-4D85B04D3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29100"/>
            <a:ext cx="3114675" cy="149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E4"/>
          </a:solidFill>
          <a:ln xmlns:a="http://schemas.openxmlformats.org/drawingml/2006/main" w="0">
            <a:solidFill>
              <a:srgbClr val="DDE7E4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2c21ff73e444b3"/>
          <a:srcRect xmlns:a="http://schemas.openxmlformats.org/drawingml/2006/main" l="0" t="25347" r="0" b="253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43850" y="4286250"/>
            <a:ext cx="3000375" cy="1381125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4354D5-0FB3-4CEE-AB98-1F39B049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Kigali Real Estate Booking Platform | Defense Deck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1180392-2972-4D71-891E-B1A3A0EE4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D7C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D7C7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0679591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FEE971-71AF-45FA-859F-E66CAC1F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A"/>
          </a:solidFill>
          <a:ln xmlns:a="http://schemas.openxmlformats.org/drawingml/2006/main" w="0">
            <a:solidFill>
              <a:srgbClr val="F7F4E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0B1277-BCC2-47E5-8A0F-D8044502F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8"/>
          </a:solidFill>
          <a:ln xmlns:a="http://schemas.openxmlformats.org/drawingml/2006/main" w="0">
            <a:solidFill>
              <a:srgbClr val="0D7C78"/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1F61190-C29C-4250-A0C9-E6EB3C4F6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8"/>
          </a:solidFill>
          <a:ln xmlns:a="http://schemas.openxmlformats.org/drawingml/2006/main" w="0">
            <a:solidFill>
              <a:srgbClr val="0D7C78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6B55030-BAA2-4F1D-A539-D444ABC35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"/>
            <a:ext cx="419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7C7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D7C78"/>
                </a:solidFill>
                <a:latin typeface="Aptos"/>
                <a:ea typeface="Aptos"/>
                <a:cs typeface="Aptos"/>
              </a:rPr>
              <a:t>SYSTEM 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4493F0-8D58-4402-BF57-B16E83D7E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990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02B"/>
                </a:solidFill>
                <a:latin typeface="Aptos Display"/>
                <a:ea typeface="Aptos Display"/>
                <a:cs typeface="Aptos Display"/>
              </a:rPr>
              <a:t>The architecture connects a user-facing PWA to API services, database records, and blockchain escrow.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EC0E7A-A2FD-463B-BDEC-C3520B7E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1809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250A12-E727-468A-AF67-25CCAB8D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8"/>
          </a:solidFill>
          <a:ln xmlns:a="http://schemas.openxmlformats.org/drawingml/2006/main" w="0">
            <a:solidFill>
              <a:srgbClr val="0D7C7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4AE73D-7109-45B6-AEAB-F6581919E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1466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Frontend PWA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C0E048-A69A-4AB3-BF1C-ED6E2424A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Next.js 14 + React</a:t>
            </a:r>
          </a:p>
          <a:p xmlns:a="http://schemas.openxmlformats.org/drawingml/2006/main">
            <a:pPr algn="l">
              <a:defRPr sz="1125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Search, booking, wallet, KYC, admin pages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24D711-FF41-4455-ACBA-761240EF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86000"/>
            <a:ext cx="21431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657665-3795-4EE7-8EB8-9A94C4B7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86000"/>
            <a:ext cx="21431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26B"/>
          </a:solidFill>
          <a:ln xmlns:a="http://schemas.openxmlformats.org/drawingml/2006/main" w="0">
            <a:solidFill>
              <a:srgbClr val="20A26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18588F-3409-4AB6-8536-CF6C1068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476500"/>
            <a:ext cx="18002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Backend 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5EC37D-BE0F-4D2B-B99C-1D818EC58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895600"/>
            <a:ext cx="18002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Express + TypeScript</a:t>
            </a:r>
          </a:p>
          <a:p xmlns:a="http://schemas.openxmlformats.org/drawingml/2006/main">
            <a:pPr algn="l">
              <a:defRPr sz="1125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Auth, properties, booking, payments, fraud, notifications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600427-B6CA-4804-AD62-0ACAA427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09750"/>
            <a:ext cx="2000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7E7249-F6AD-4EC0-8BBB-B9EB2C9E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09750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5"/>
          </a:solidFill>
          <a:ln xmlns:a="http://schemas.openxmlformats.org/drawingml/2006/main" w="0">
            <a:solidFill>
              <a:srgbClr val="D8A13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A67531-BBFD-405C-B692-E02B92515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00250"/>
            <a:ext cx="1657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MySQL + Prisma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45D5D8-8E8C-40A3-A782-71919E08E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Users, properties, bookings, payments, disputes, documents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B89E73-D6B8-4E2E-A1A4-BC77F7DD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33750"/>
            <a:ext cx="2000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20816A-176A-4460-A102-ABB530D2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33750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8"/>
          </a:solidFill>
          <a:ln xmlns:a="http://schemas.openxmlformats.org/drawingml/2006/main" w="0">
            <a:solidFill>
              <a:srgbClr val="0D7C7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D9935A-A2DD-40C5-B47E-083F89E0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524250"/>
            <a:ext cx="1657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Ethereum escrow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EEA6C8-6D22-4E1D-9F47-39A70F065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943350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RealEstateEscrow.sol</a:t>
            </a:r>
          </a:p>
          <a:p xmlns:a="http://schemas.openxmlformats.org/drawingml/2006/main">
            <a:pPr algn="l">
              <a:defRPr sz="1125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Lock, release, refund, dispute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715540-0753-4D0F-9B04-C2F77845B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286000"/>
            <a:ext cx="18573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39F3C8-0A20-42E9-A0B8-D99CE265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286000"/>
            <a:ext cx="18573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74B"/>
          </a:solidFill>
          <a:ln xmlns:a="http://schemas.openxmlformats.org/drawingml/2006/main" w="0">
            <a:solidFill>
              <a:srgbClr val="B9574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AB723F-7E2B-45B5-B07B-3F4A00C8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476500"/>
            <a:ext cx="15144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Admin layer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277965-8AC1-4ABA-89E7-D4E5D0956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895600"/>
            <a:ext cx="15144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Approvals, fraud alerts, dispute resolution, reports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F995AE-4766-43F2-AE79-012FA866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895600"/>
            <a:ext cx="352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26B"/>
          </a:solidFill>
          <a:ln xmlns:a="http://schemas.openxmlformats.org/drawingml/2006/main" w="0">
            <a:solidFill>
              <a:srgbClr val="20A26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639C43-237E-4927-9D62-8C20DAEF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838450"/>
            <a:ext cx="0" cy="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0A26B"/>
          </a:solidFill>
          <a:ln xmlns:a="http://schemas.openxmlformats.org/drawingml/2006/main" w="0">
            <a:solidFill>
              <a:srgbClr val="20A26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C1344F-6736-45D2-A91B-A1FDF2067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524125"/>
            <a:ext cx="4667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135"/>
          </a:solidFill>
          <a:ln xmlns:a="http://schemas.openxmlformats.org/drawingml/2006/main" w="0">
            <a:solidFill>
              <a:srgbClr val="D8A13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D150D0-4178-4D22-B27A-4109B47D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466975"/>
            <a:ext cx="0" cy="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A135"/>
          </a:solidFill>
          <a:ln xmlns:a="http://schemas.openxmlformats.org/drawingml/2006/main" w="0">
            <a:solidFill>
              <a:srgbClr val="D8A13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A766E0-36E5-4E5B-A95C-82B8005E6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857625"/>
            <a:ext cx="4667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8"/>
          </a:solidFill>
          <a:ln xmlns:a="http://schemas.openxmlformats.org/drawingml/2006/main" w="0">
            <a:solidFill>
              <a:srgbClr val="0D7C7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993504-4471-4CF1-A4FC-F0887482F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3800475"/>
            <a:ext cx="0" cy="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D7C78"/>
          </a:solidFill>
          <a:ln xmlns:a="http://schemas.openxmlformats.org/drawingml/2006/main" w="0">
            <a:solidFill>
              <a:srgbClr val="0D7C7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6DEDC7-F5DB-482C-9CD5-AE76C80A6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89560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74B"/>
          </a:solidFill>
          <a:ln xmlns:a="http://schemas.openxmlformats.org/drawingml/2006/main" w="0">
            <a:solidFill>
              <a:srgbClr val="B9574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277FA1-23A5-41CE-8E9B-922CC503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38450"/>
            <a:ext cx="0" cy="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9574B"/>
          </a:solidFill>
          <a:ln xmlns:a="http://schemas.openxmlformats.org/drawingml/2006/main" w="0">
            <a:solidFill>
              <a:srgbClr val="B9574B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64654b929040f2"/>
          <a:stretch xmlns:a="http://schemas.openxmlformats.org/drawingml/2006/main"/>
        </p:blipFill>
        <p:spPr>
          <a:xfrm xmlns:a="http://schemas.openxmlformats.org/drawingml/2006/main">
            <a:off x="2312743" y="4333875"/>
            <a:ext cx="956163" cy="1381125"/>
          </a:xfrm>
          <a:prstGeom xmlns:a="http://schemas.openxmlformats.org/drawingml/2006/main" prst="rect">
            <a:avLst/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34D2F4B-7A10-49D1-A2D4-22E48EEC7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429125"/>
            <a:ext cx="4095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A"/>
          </a:solidFill>
          <a:ln xmlns:a="http://schemas.openxmlformats.org/drawingml/2006/main" w="0">
            <a:solidFill>
              <a:srgbClr val="09212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D946246-19F6-48CD-A347-303CD3B16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48200"/>
            <a:ext cx="3524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Key architectural contribution: payment trust is enforced by escrow logic, while usability remains in familiar web and payment channels.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57336F1-6861-4AE0-8E9A-5FB8A363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71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716D"/>
                </a:solidFill>
                <a:latin typeface="Aptos"/>
                <a:ea typeface="Aptos"/>
                <a:cs typeface="Aptos"/>
              </a:rPr>
              <a:t>Kigali Real Estate Booking Platform | Defense Deck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7254119-7AB0-4AF6-B737-E336DC2A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D7C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D7C7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608194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2026-06-03T19:48:57.5460000Z</dcterms:created>
  <dcterms:modified xsi:type="dcterms:W3CDTF">2026-06-03T19:48:57.5460000Z</dcterms:modified>
</coreProperties>
</file>